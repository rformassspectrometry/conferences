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64" r:id="rId2"/>
  </p:sldIdLst>
  <p:sldSz cx="30267275" cy="4279423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503" userDrawn="1">
          <p15:clr>
            <a:srgbClr val="A4A3A4"/>
          </p15:clr>
        </p15:guide>
        <p15:guide id="2" pos="95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D2A"/>
    <a:srgbClr val="75C4FF"/>
    <a:srgbClr val="D9D9D9"/>
    <a:srgbClr val="B1AFAF"/>
    <a:srgbClr val="827E7E"/>
    <a:srgbClr val="FF0000"/>
    <a:srgbClr val="0000FF"/>
    <a:srgbClr val="EEEEEE"/>
    <a:srgbClr val="CCCECD"/>
    <a:srgbClr val="C9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186" autoAdjust="0"/>
  </p:normalViewPr>
  <p:slideViewPr>
    <p:cSldViewPr snapToGrid="0">
      <p:cViewPr>
        <p:scale>
          <a:sx n="50" d="100"/>
          <a:sy n="50" d="100"/>
        </p:scale>
        <p:origin x="-1262" y="-4997"/>
      </p:cViewPr>
      <p:guideLst>
        <p:guide orient="horz" pos="13503"/>
        <p:guide pos="95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3410" y="7003597"/>
            <a:ext cx="22700456" cy="14898735"/>
          </a:xfrm>
        </p:spPr>
        <p:txBody>
          <a:bodyPr anchor="b"/>
          <a:lstStyle>
            <a:lvl1pPr algn="ctr">
              <a:defRPr sz="1489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</p:spPr>
        <p:txBody>
          <a:bodyPr/>
          <a:lstStyle>
            <a:lvl1pPr marL="0" indent="0" algn="ctr">
              <a:buNone/>
              <a:defRPr sz="5958"/>
            </a:lvl1pPr>
            <a:lvl2pPr marL="1135045" indent="0" algn="ctr">
              <a:buNone/>
              <a:defRPr sz="4965"/>
            </a:lvl2pPr>
            <a:lvl3pPr marL="2270089" indent="0" algn="ctr">
              <a:buNone/>
              <a:defRPr sz="4469"/>
            </a:lvl3pPr>
            <a:lvl4pPr marL="3405134" indent="0" algn="ctr">
              <a:buNone/>
              <a:defRPr sz="3972"/>
            </a:lvl4pPr>
            <a:lvl5pPr marL="4540179" indent="0" algn="ctr">
              <a:buNone/>
              <a:defRPr sz="3972"/>
            </a:lvl5pPr>
            <a:lvl6pPr marL="5675224" indent="0" algn="ctr">
              <a:buNone/>
              <a:defRPr sz="3972"/>
            </a:lvl6pPr>
            <a:lvl7pPr marL="6810268" indent="0" algn="ctr">
              <a:buNone/>
              <a:defRPr sz="3972"/>
            </a:lvl7pPr>
            <a:lvl8pPr marL="7945313" indent="0" algn="ctr">
              <a:buNone/>
              <a:defRPr sz="3972"/>
            </a:lvl8pPr>
            <a:lvl9pPr marL="9080358" indent="0" algn="ctr">
              <a:buNone/>
              <a:defRPr sz="397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02A0A-06A8-4DA9-9B79-2556E855132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91BAE-9EBB-40B5-8FB4-C1C8015432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493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02A0A-06A8-4DA9-9B79-2556E855132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91BAE-9EBB-40B5-8FB4-C1C8015432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76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1" y="10668848"/>
            <a:ext cx="26105525" cy="17801211"/>
          </a:xfrm>
        </p:spPr>
        <p:txBody>
          <a:bodyPr anchor="b"/>
          <a:lstStyle>
            <a:lvl1pPr>
              <a:defRPr sz="1489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1" y="28638465"/>
            <a:ext cx="26105525" cy="9361236"/>
          </a:xfrm>
        </p:spPr>
        <p:txBody>
          <a:bodyPr/>
          <a:lstStyle>
            <a:lvl1pPr marL="0" indent="0">
              <a:buNone/>
              <a:defRPr sz="5958">
                <a:solidFill>
                  <a:schemeClr val="tx1">
                    <a:tint val="75000"/>
                  </a:schemeClr>
                </a:solidFill>
              </a:defRPr>
            </a:lvl1pPr>
            <a:lvl2pPr marL="1135045" indent="0">
              <a:buNone/>
              <a:defRPr sz="4965">
                <a:solidFill>
                  <a:schemeClr val="tx1">
                    <a:tint val="75000"/>
                  </a:schemeClr>
                </a:solidFill>
              </a:defRPr>
            </a:lvl2pPr>
            <a:lvl3pPr marL="2270089" indent="0">
              <a:buNone/>
              <a:defRPr sz="4469">
                <a:solidFill>
                  <a:schemeClr val="tx1">
                    <a:tint val="75000"/>
                  </a:schemeClr>
                </a:solidFill>
              </a:defRPr>
            </a:lvl3pPr>
            <a:lvl4pPr marL="3405134" indent="0">
              <a:buNone/>
              <a:defRPr sz="3972">
                <a:solidFill>
                  <a:schemeClr val="tx1">
                    <a:tint val="75000"/>
                  </a:schemeClr>
                </a:solidFill>
              </a:defRPr>
            </a:lvl4pPr>
            <a:lvl5pPr marL="4540179" indent="0">
              <a:buNone/>
              <a:defRPr sz="3972">
                <a:solidFill>
                  <a:schemeClr val="tx1">
                    <a:tint val="75000"/>
                  </a:schemeClr>
                </a:solidFill>
              </a:defRPr>
            </a:lvl5pPr>
            <a:lvl6pPr marL="5675224" indent="0">
              <a:buNone/>
              <a:defRPr sz="3972">
                <a:solidFill>
                  <a:schemeClr val="tx1">
                    <a:tint val="75000"/>
                  </a:schemeClr>
                </a:solidFill>
              </a:defRPr>
            </a:lvl6pPr>
            <a:lvl7pPr marL="6810268" indent="0">
              <a:buNone/>
              <a:defRPr sz="3972">
                <a:solidFill>
                  <a:schemeClr val="tx1">
                    <a:tint val="75000"/>
                  </a:schemeClr>
                </a:solidFill>
              </a:defRPr>
            </a:lvl7pPr>
            <a:lvl8pPr marL="7945313" indent="0">
              <a:buNone/>
              <a:defRPr sz="3972">
                <a:solidFill>
                  <a:schemeClr val="tx1">
                    <a:tint val="75000"/>
                  </a:schemeClr>
                </a:solidFill>
              </a:defRPr>
            </a:lvl8pPr>
            <a:lvl9pPr marL="9080358" indent="0">
              <a:buNone/>
              <a:defRPr sz="39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02A0A-06A8-4DA9-9B79-2556E855132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91BAE-9EBB-40B5-8FB4-C1C8015432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043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02A0A-06A8-4DA9-9B79-2556E855132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91BAE-9EBB-40B5-8FB4-C1C8015432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138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0"/>
            <a:ext cx="26105525" cy="8271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19" y="10490535"/>
            <a:ext cx="12804475" cy="5141249"/>
          </a:xfrm>
        </p:spPr>
        <p:txBody>
          <a:bodyPr anchor="b"/>
          <a:lstStyle>
            <a:lvl1pPr marL="0" indent="0">
              <a:buNone/>
              <a:defRPr sz="5958" b="1"/>
            </a:lvl1pPr>
            <a:lvl2pPr marL="1135045" indent="0">
              <a:buNone/>
              <a:defRPr sz="4965" b="1"/>
            </a:lvl2pPr>
            <a:lvl3pPr marL="2270089" indent="0">
              <a:buNone/>
              <a:defRPr sz="4469" b="1"/>
            </a:lvl3pPr>
            <a:lvl4pPr marL="3405134" indent="0">
              <a:buNone/>
              <a:defRPr sz="3972" b="1"/>
            </a:lvl4pPr>
            <a:lvl5pPr marL="4540179" indent="0">
              <a:buNone/>
              <a:defRPr sz="3972" b="1"/>
            </a:lvl5pPr>
            <a:lvl6pPr marL="5675224" indent="0">
              <a:buNone/>
              <a:defRPr sz="3972" b="1"/>
            </a:lvl6pPr>
            <a:lvl7pPr marL="6810268" indent="0">
              <a:buNone/>
              <a:defRPr sz="3972" b="1"/>
            </a:lvl7pPr>
            <a:lvl8pPr marL="7945313" indent="0">
              <a:buNone/>
              <a:defRPr sz="3972" b="1"/>
            </a:lvl8pPr>
            <a:lvl9pPr marL="9080358" indent="0">
              <a:buNone/>
              <a:defRPr sz="3972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19" y="15631784"/>
            <a:ext cx="12804475" cy="2299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08" y="10490535"/>
            <a:ext cx="12867534" cy="5141249"/>
          </a:xfrm>
        </p:spPr>
        <p:txBody>
          <a:bodyPr anchor="b"/>
          <a:lstStyle>
            <a:lvl1pPr marL="0" indent="0">
              <a:buNone/>
              <a:defRPr sz="5958" b="1"/>
            </a:lvl1pPr>
            <a:lvl2pPr marL="1135045" indent="0">
              <a:buNone/>
              <a:defRPr sz="4965" b="1"/>
            </a:lvl2pPr>
            <a:lvl3pPr marL="2270089" indent="0">
              <a:buNone/>
              <a:defRPr sz="4469" b="1"/>
            </a:lvl3pPr>
            <a:lvl4pPr marL="3405134" indent="0">
              <a:buNone/>
              <a:defRPr sz="3972" b="1"/>
            </a:lvl4pPr>
            <a:lvl5pPr marL="4540179" indent="0">
              <a:buNone/>
              <a:defRPr sz="3972" b="1"/>
            </a:lvl5pPr>
            <a:lvl6pPr marL="5675224" indent="0">
              <a:buNone/>
              <a:defRPr sz="3972" b="1"/>
            </a:lvl6pPr>
            <a:lvl7pPr marL="6810268" indent="0">
              <a:buNone/>
              <a:defRPr sz="3972" b="1"/>
            </a:lvl7pPr>
            <a:lvl8pPr marL="7945313" indent="0">
              <a:buNone/>
              <a:defRPr sz="3972" b="1"/>
            </a:lvl8pPr>
            <a:lvl9pPr marL="9080358" indent="0">
              <a:buNone/>
              <a:defRPr sz="3972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08" y="15631784"/>
            <a:ext cx="12867534" cy="2299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02A0A-06A8-4DA9-9B79-2556E855132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91BAE-9EBB-40B5-8FB4-C1C8015432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154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02A0A-06A8-4DA9-9B79-2556E855132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91BAE-9EBB-40B5-8FB4-C1C8015432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245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02A0A-06A8-4DA9-9B79-2556E855132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91BAE-9EBB-40B5-8FB4-C1C8015432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251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9" y="2852949"/>
            <a:ext cx="9761983" cy="9985322"/>
          </a:xfrm>
        </p:spPr>
        <p:txBody>
          <a:bodyPr anchor="b"/>
          <a:lstStyle>
            <a:lvl1pPr>
              <a:defRPr sz="794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81"/>
            <a:ext cx="15322808" cy="30411646"/>
          </a:xfrm>
        </p:spPr>
        <p:txBody>
          <a:bodyPr/>
          <a:lstStyle>
            <a:lvl1pPr>
              <a:defRPr sz="7944"/>
            </a:lvl1pPr>
            <a:lvl2pPr>
              <a:defRPr sz="6951"/>
            </a:lvl2pPr>
            <a:lvl3pPr>
              <a:defRPr sz="5958"/>
            </a:lvl3pPr>
            <a:lvl4pPr>
              <a:defRPr sz="4965"/>
            </a:lvl4pPr>
            <a:lvl5pPr>
              <a:defRPr sz="4965"/>
            </a:lvl5pPr>
            <a:lvl6pPr>
              <a:defRPr sz="4965"/>
            </a:lvl6pPr>
            <a:lvl7pPr>
              <a:defRPr sz="4965"/>
            </a:lvl7pPr>
            <a:lvl8pPr>
              <a:defRPr sz="4965"/>
            </a:lvl8pPr>
            <a:lvl9pPr>
              <a:defRPr sz="496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9" y="12838271"/>
            <a:ext cx="9761983" cy="23784486"/>
          </a:xfrm>
        </p:spPr>
        <p:txBody>
          <a:bodyPr/>
          <a:lstStyle>
            <a:lvl1pPr marL="0" indent="0">
              <a:buNone/>
              <a:defRPr sz="3972"/>
            </a:lvl1pPr>
            <a:lvl2pPr marL="1135045" indent="0">
              <a:buNone/>
              <a:defRPr sz="3476"/>
            </a:lvl2pPr>
            <a:lvl3pPr marL="2270089" indent="0">
              <a:buNone/>
              <a:defRPr sz="2979"/>
            </a:lvl3pPr>
            <a:lvl4pPr marL="3405134" indent="0">
              <a:buNone/>
              <a:defRPr sz="2483"/>
            </a:lvl4pPr>
            <a:lvl5pPr marL="4540179" indent="0">
              <a:buNone/>
              <a:defRPr sz="2483"/>
            </a:lvl5pPr>
            <a:lvl6pPr marL="5675224" indent="0">
              <a:buNone/>
              <a:defRPr sz="2483"/>
            </a:lvl6pPr>
            <a:lvl7pPr marL="6810268" indent="0">
              <a:buNone/>
              <a:defRPr sz="2483"/>
            </a:lvl7pPr>
            <a:lvl8pPr marL="7945313" indent="0">
              <a:buNone/>
              <a:defRPr sz="2483"/>
            </a:lvl8pPr>
            <a:lvl9pPr marL="9080358" indent="0">
              <a:buNone/>
              <a:defRPr sz="248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02A0A-06A8-4DA9-9B79-2556E855132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91BAE-9EBB-40B5-8FB4-C1C8015432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360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9" y="2852949"/>
            <a:ext cx="9761983" cy="9985322"/>
          </a:xfrm>
        </p:spPr>
        <p:txBody>
          <a:bodyPr anchor="b"/>
          <a:lstStyle>
            <a:lvl1pPr>
              <a:defRPr sz="794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867534" y="6161581"/>
            <a:ext cx="15322808" cy="30411646"/>
          </a:xfrm>
        </p:spPr>
        <p:txBody>
          <a:bodyPr/>
          <a:lstStyle>
            <a:lvl1pPr marL="0" indent="0">
              <a:buNone/>
              <a:defRPr sz="7944"/>
            </a:lvl1pPr>
            <a:lvl2pPr marL="1135045" indent="0">
              <a:buNone/>
              <a:defRPr sz="6951"/>
            </a:lvl2pPr>
            <a:lvl3pPr marL="2270089" indent="0">
              <a:buNone/>
              <a:defRPr sz="5958"/>
            </a:lvl3pPr>
            <a:lvl4pPr marL="3405134" indent="0">
              <a:buNone/>
              <a:defRPr sz="4965"/>
            </a:lvl4pPr>
            <a:lvl5pPr marL="4540179" indent="0">
              <a:buNone/>
              <a:defRPr sz="4965"/>
            </a:lvl5pPr>
            <a:lvl6pPr marL="5675224" indent="0">
              <a:buNone/>
              <a:defRPr sz="4965"/>
            </a:lvl6pPr>
            <a:lvl7pPr marL="6810268" indent="0">
              <a:buNone/>
              <a:defRPr sz="4965"/>
            </a:lvl7pPr>
            <a:lvl8pPr marL="7945313" indent="0">
              <a:buNone/>
              <a:defRPr sz="4965"/>
            </a:lvl8pPr>
            <a:lvl9pPr marL="9080358" indent="0">
              <a:buNone/>
              <a:defRPr sz="4965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9" y="12838271"/>
            <a:ext cx="9761983" cy="23784486"/>
          </a:xfrm>
        </p:spPr>
        <p:txBody>
          <a:bodyPr/>
          <a:lstStyle>
            <a:lvl1pPr marL="0" indent="0">
              <a:buNone/>
              <a:defRPr sz="3972"/>
            </a:lvl1pPr>
            <a:lvl2pPr marL="1135045" indent="0">
              <a:buNone/>
              <a:defRPr sz="3476"/>
            </a:lvl2pPr>
            <a:lvl3pPr marL="2270089" indent="0">
              <a:buNone/>
              <a:defRPr sz="2979"/>
            </a:lvl3pPr>
            <a:lvl4pPr marL="3405134" indent="0">
              <a:buNone/>
              <a:defRPr sz="2483"/>
            </a:lvl4pPr>
            <a:lvl5pPr marL="4540179" indent="0">
              <a:buNone/>
              <a:defRPr sz="2483"/>
            </a:lvl5pPr>
            <a:lvl6pPr marL="5675224" indent="0">
              <a:buNone/>
              <a:defRPr sz="2483"/>
            </a:lvl6pPr>
            <a:lvl7pPr marL="6810268" indent="0">
              <a:buNone/>
              <a:defRPr sz="2483"/>
            </a:lvl7pPr>
            <a:lvl8pPr marL="7945313" indent="0">
              <a:buNone/>
              <a:defRPr sz="2483"/>
            </a:lvl8pPr>
            <a:lvl9pPr marL="9080358" indent="0">
              <a:buNone/>
              <a:defRPr sz="248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02A0A-06A8-4DA9-9B79-2556E855132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91BAE-9EBB-40B5-8FB4-C1C8015432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514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02A0A-06A8-4DA9-9B79-2556E855132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91BAE-9EBB-40B5-8FB4-C1C8015432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6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19" y="2278397"/>
            <a:ext cx="6526381" cy="362661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5" y="2278397"/>
            <a:ext cx="19200803" cy="362661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02A0A-06A8-4DA9-9B79-2556E855132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91BAE-9EBB-40B5-8FB4-C1C8015432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23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2278400"/>
            <a:ext cx="26105525" cy="8271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39663922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02A0A-06A8-4DA9-9B79-2556E855132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39663922"/>
            <a:ext cx="10215205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39663922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91BAE-9EBB-40B5-8FB4-C1C8015432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45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2270089" rtl="0" eaLnBrk="1" latinLnBrk="0" hangingPunct="1">
        <a:lnSpc>
          <a:spcPct val="90000"/>
        </a:lnSpc>
        <a:spcBef>
          <a:spcPct val="0"/>
        </a:spcBef>
        <a:buNone/>
        <a:defRPr sz="109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7522" indent="-567522" algn="l" defTabSz="2270089" rtl="0" eaLnBrk="1" latinLnBrk="0" hangingPunct="1">
        <a:lnSpc>
          <a:spcPct val="90000"/>
        </a:lnSpc>
        <a:spcBef>
          <a:spcPts val="2483"/>
        </a:spcBef>
        <a:buFont typeface="Arial" panose="020B0604020202020204" pitchFamily="34" charset="0"/>
        <a:buChar char="•"/>
        <a:defRPr sz="6951" kern="1200">
          <a:solidFill>
            <a:schemeClr val="tx1"/>
          </a:solidFill>
          <a:latin typeface="+mn-lt"/>
          <a:ea typeface="+mn-ea"/>
          <a:cs typeface="+mn-cs"/>
        </a:defRPr>
      </a:lvl1pPr>
      <a:lvl2pPr marL="1702567" indent="-567522" algn="l" defTabSz="2270089" rtl="0" eaLnBrk="1" latinLnBrk="0" hangingPunct="1">
        <a:lnSpc>
          <a:spcPct val="90000"/>
        </a:lnSpc>
        <a:spcBef>
          <a:spcPts val="1241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2837612" indent="-567522" algn="l" defTabSz="2270089" rtl="0" eaLnBrk="1" latinLnBrk="0" hangingPunct="1">
        <a:lnSpc>
          <a:spcPct val="90000"/>
        </a:lnSpc>
        <a:spcBef>
          <a:spcPts val="1241"/>
        </a:spcBef>
        <a:buFont typeface="Arial" panose="020B0604020202020204" pitchFamily="34" charset="0"/>
        <a:buChar char="•"/>
        <a:defRPr sz="4965" kern="1200">
          <a:solidFill>
            <a:schemeClr val="tx1"/>
          </a:solidFill>
          <a:latin typeface="+mn-lt"/>
          <a:ea typeface="+mn-ea"/>
          <a:cs typeface="+mn-cs"/>
        </a:defRPr>
      </a:lvl3pPr>
      <a:lvl4pPr marL="3972657" indent="-567522" algn="l" defTabSz="2270089" rtl="0" eaLnBrk="1" latinLnBrk="0" hangingPunct="1">
        <a:lnSpc>
          <a:spcPct val="90000"/>
        </a:lnSpc>
        <a:spcBef>
          <a:spcPts val="1241"/>
        </a:spcBef>
        <a:buFont typeface="Arial" panose="020B0604020202020204" pitchFamily="34" charset="0"/>
        <a:buChar char="•"/>
        <a:defRPr sz="4469" kern="1200">
          <a:solidFill>
            <a:schemeClr val="tx1"/>
          </a:solidFill>
          <a:latin typeface="+mn-lt"/>
          <a:ea typeface="+mn-ea"/>
          <a:cs typeface="+mn-cs"/>
        </a:defRPr>
      </a:lvl4pPr>
      <a:lvl5pPr marL="5107701" indent="-567522" algn="l" defTabSz="2270089" rtl="0" eaLnBrk="1" latinLnBrk="0" hangingPunct="1">
        <a:lnSpc>
          <a:spcPct val="90000"/>
        </a:lnSpc>
        <a:spcBef>
          <a:spcPts val="1241"/>
        </a:spcBef>
        <a:buFont typeface="Arial" panose="020B0604020202020204" pitchFamily="34" charset="0"/>
        <a:buChar char="•"/>
        <a:defRPr sz="4469" kern="1200">
          <a:solidFill>
            <a:schemeClr val="tx1"/>
          </a:solidFill>
          <a:latin typeface="+mn-lt"/>
          <a:ea typeface="+mn-ea"/>
          <a:cs typeface="+mn-cs"/>
        </a:defRPr>
      </a:lvl5pPr>
      <a:lvl6pPr marL="6242746" indent="-567522" algn="l" defTabSz="2270089" rtl="0" eaLnBrk="1" latinLnBrk="0" hangingPunct="1">
        <a:lnSpc>
          <a:spcPct val="90000"/>
        </a:lnSpc>
        <a:spcBef>
          <a:spcPts val="1241"/>
        </a:spcBef>
        <a:buFont typeface="Arial" panose="020B0604020202020204" pitchFamily="34" charset="0"/>
        <a:buChar char="•"/>
        <a:defRPr sz="4469" kern="1200">
          <a:solidFill>
            <a:schemeClr val="tx1"/>
          </a:solidFill>
          <a:latin typeface="+mn-lt"/>
          <a:ea typeface="+mn-ea"/>
          <a:cs typeface="+mn-cs"/>
        </a:defRPr>
      </a:lvl6pPr>
      <a:lvl7pPr marL="7377791" indent="-567522" algn="l" defTabSz="2270089" rtl="0" eaLnBrk="1" latinLnBrk="0" hangingPunct="1">
        <a:lnSpc>
          <a:spcPct val="90000"/>
        </a:lnSpc>
        <a:spcBef>
          <a:spcPts val="1241"/>
        </a:spcBef>
        <a:buFont typeface="Arial" panose="020B0604020202020204" pitchFamily="34" charset="0"/>
        <a:buChar char="•"/>
        <a:defRPr sz="4469" kern="1200">
          <a:solidFill>
            <a:schemeClr val="tx1"/>
          </a:solidFill>
          <a:latin typeface="+mn-lt"/>
          <a:ea typeface="+mn-ea"/>
          <a:cs typeface="+mn-cs"/>
        </a:defRPr>
      </a:lvl7pPr>
      <a:lvl8pPr marL="8512835" indent="-567522" algn="l" defTabSz="2270089" rtl="0" eaLnBrk="1" latinLnBrk="0" hangingPunct="1">
        <a:lnSpc>
          <a:spcPct val="90000"/>
        </a:lnSpc>
        <a:spcBef>
          <a:spcPts val="1241"/>
        </a:spcBef>
        <a:buFont typeface="Arial" panose="020B0604020202020204" pitchFamily="34" charset="0"/>
        <a:buChar char="•"/>
        <a:defRPr sz="4469" kern="1200">
          <a:solidFill>
            <a:schemeClr val="tx1"/>
          </a:solidFill>
          <a:latin typeface="+mn-lt"/>
          <a:ea typeface="+mn-ea"/>
          <a:cs typeface="+mn-cs"/>
        </a:defRPr>
      </a:lvl8pPr>
      <a:lvl9pPr marL="9647880" indent="-567522" algn="l" defTabSz="2270089" rtl="0" eaLnBrk="1" latinLnBrk="0" hangingPunct="1">
        <a:lnSpc>
          <a:spcPct val="90000"/>
        </a:lnSpc>
        <a:spcBef>
          <a:spcPts val="1241"/>
        </a:spcBef>
        <a:buFont typeface="Arial" panose="020B0604020202020204" pitchFamily="34" charset="0"/>
        <a:buChar char="•"/>
        <a:defRPr sz="44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1pPr>
      <a:lvl2pPr marL="1135045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2pPr>
      <a:lvl3pPr marL="2270089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3pPr>
      <a:lvl4pPr marL="3405134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4pPr>
      <a:lvl5pPr marL="4540179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5pPr>
      <a:lvl6pPr marL="5675224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6pPr>
      <a:lvl7pPr marL="6810268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7pPr>
      <a:lvl8pPr marL="7945313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8pPr>
      <a:lvl9pPr marL="9080358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hyperlink" Target="https://doi.org/10.3390/metabo12020173" TargetMode="External"/><Relationship Id="rId26" Type="http://schemas.openxmlformats.org/officeDocument/2006/relationships/hyperlink" Target="https://zenodo.org/doi/10.5281/zenodo.7936786" TargetMode="External"/><Relationship Id="rId39" Type="http://schemas.openxmlformats.org/officeDocument/2006/relationships/image" Target="../media/image29.png"/><Relationship Id="rId21" Type="http://schemas.openxmlformats.org/officeDocument/2006/relationships/hyperlink" Target="https://doi.org/10.1101/2022.08.06.503000" TargetMode="External"/><Relationship Id="rId34" Type="http://schemas.openxmlformats.org/officeDocument/2006/relationships/image" Target="../media/image25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hyperlink" Target="https://doi.org/10.1093/bioinformatics/btad618" TargetMode="External"/><Relationship Id="rId25" Type="http://schemas.openxmlformats.org/officeDocument/2006/relationships/image" Target="../media/image19.png"/><Relationship Id="rId33" Type="http://schemas.openxmlformats.org/officeDocument/2006/relationships/hyperlink" Target="https://linktr.ee/jorainer" TargetMode="External"/><Relationship Id="rId38" Type="http://schemas.openxmlformats.org/officeDocument/2006/relationships/image" Target="../media/image28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hyperlink" Target="https://doi.org/10.21105/joss.02411" TargetMode="External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18.png"/><Relationship Id="rId32" Type="http://schemas.openxmlformats.org/officeDocument/2006/relationships/hyperlink" Target="https://doi.org/10.5281/zenodo.11370345" TargetMode="External"/><Relationship Id="rId37" Type="http://schemas.openxmlformats.org/officeDocument/2006/relationships/image" Target="../media/image27.png"/><Relationship Id="rId40" Type="http://schemas.openxmlformats.org/officeDocument/2006/relationships/image" Target="../media/image3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17.png"/><Relationship Id="rId28" Type="http://schemas.openxmlformats.org/officeDocument/2006/relationships/image" Target="../media/image21.png"/><Relationship Id="rId36" Type="http://schemas.openxmlformats.org/officeDocument/2006/relationships/hyperlink" Target="https://doi.org/10.5281/zenodo.11370612" TargetMode="External"/><Relationship Id="rId10" Type="http://schemas.openxmlformats.org/officeDocument/2006/relationships/image" Target="../media/image9.png"/><Relationship Id="rId19" Type="http://schemas.openxmlformats.org/officeDocument/2006/relationships/hyperlink" Target="https://doi.org/10.1021/acs.jproteome.0c00866" TargetMode="External"/><Relationship Id="rId31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16.png"/><Relationship Id="rId27" Type="http://schemas.openxmlformats.org/officeDocument/2006/relationships/image" Target="../media/image20.png"/><Relationship Id="rId30" Type="http://schemas.openxmlformats.org/officeDocument/2006/relationships/image" Target="../media/image23.png"/><Relationship Id="rId35" Type="http://schemas.openxmlformats.org/officeDocument/2006/relationships/image" Target="../media/image26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DC366B8-1003-8FC4-8B26-C4166DA688F4}"/>
              </a:ext>
            </a:extLst>
          </p:cNvPr>
          <p:cNvCxnSpPr>
            <a:cxnSpLocks/>
          </p:cNvCxnSpPr>
          <p:nvPr/>
        </p:nvCxnSpPr>
        <p:spPr>
          <a:xfrm flipH="1" flipV="1">
            <a:off x="15177198" y="21861479"/>
            <a:ext cx="6832750" cy="5474231"/>
          </a:xfrm>
          <a:prstGeom prst="line">
            <a:avLst/>
          </a:prstGeom>
          <a:ln w="254000">
            <a:solidFill>
              <a:schemeClr val="bg2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A1A2C48-16B7-0934-51A8-3E793358F919}"/>
              </a:ext>
            </a:extLst>
          </p:cNvPr>
          <p:cNvCxnSpPr>
            <a:cxnSpLocks/>
          </p:cNvCxnSpPr>
          <p:nvPr/>
        </p:nvCxnSpPr>
        <p:spPr>
          <a:xfrm flipV="1">
            <a:off x="23061610" y="26044747"/>
            <a:ext cx="1578070" cy="396205"/>
          </a:xfrm>
          <a:prstGeom prst="line">
            <a:avLst/>
          </a:prstGeom>
          <a:ln w="127000">
            <a:solidFill>
              <a:schemeClr val="bg2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B44C64D-3C5E-F917-3820-FFA1C1BCA8EA}"/>
              </a:ext>
            </a:extLst>
          </p:cNvPr>
          <p:cNvCxnSpPr>
            <a:cxnSpLocks/>
          </p:cNvCxnSpPr>
          <p:nvPr/>
        </p:nvCxnSpPr>
        <p:spPr>
          <a:xfrm>
            <a:off x="21420540" y="27995880"/>
            <a:ext cx="2901019" cy="1204348"/>
          </a:xfrm>
          <a:prstGeom prst="line">
            <a:avLst/>
          </a:prstGeom>
          <a:ln w="127000">
            <a:solidFill>
              <a:schemeClr val="bg2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6AF0EDA-159B-6C5F-C340-418CA40E3010}"/>
              </a:ext>
            </a:extLst>
          </p:cNvPr>
          <p:cNvCxnSpPr>
            <a:cxnSpLocks/>
          </p:cNvCxnSpPr>
          <p:nvPr/>
        </p:nvCxnSpPr>
        <p:spPr>
          <a:xfrm flipH="1" flipV="1">
            <a:off x="15343074" y="22033690"/>
            <a:ext cx="1895542" cy="3245220"/>
          </a:xfrm>
          <a:prstGeom prst="line">
            <a:avLst/>
          </a:prstGeom>
          <a:ln w="254000">
            <a:solidFill>
              <a:schemeClr val="bg2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D4D4DD7-3E0F-5D76-A783-7418ADDF6F62}"/>
              </a:ext>
            </a:extLst>
          </p:cNvPr>
          <p:cNvSpPr/>
          <p:nvPr/>
        </p:nvSpPr>
        <p:spPr>
          <a:xfrm>
            <a:off x="16650841" y="25137872"/>
            <a:ext cx="1204336" cy="1008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F1D4549-8290-1B45-62F0-BE12B5EE38CA}"/>
              </a:ext>
            </a:extLst>
          </p:cNvPr>
          <p:cNvCxnSpPr>
            <a:cxnSpLocks/>
          </p:cNvCxnSpPr>
          <p:nvPr/>
        </p:nvCxnSpPr>
        <p:spPr>
          <a:xfrm flipV="1">
            <a:off x="4546763" y="21714143"/>
            <a:ext cx="10543315" cy="5585957"/>
          </a:xfrm>
          <a:prstGeom prst="line">
            <a:avLst/>
          </a:prstGeom>
          <a:ln w="254000">
            <a:solidFill>
              <a:schemeClr val="bg2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BA53F2B-96FC-CC3E-4687-F289C10BC17A}"/>
              </a:ext>
            </a:extLst>
          </p:cNvPr>
          <p:cNvCxnSpPr>
            <a:cxnSpLocks/>
          </p:cNvCxnSpPr>
          <p:nvPr/>
        </p:nvCxnSpPr>
        <p:spPr>
          <a:xfrm flipH="1">
            <a:off x="15189784" y="15642533"/>
            <a:ext cx="7644445" cy="6095732"/>
          </a:xfrm>
          <a:prstGeom prst="line">
            <a:avLst/>
          </a:prstGeom>
          <a:ln w="254000">
            <a:solidFill>
              <a:schemeClr val="bg2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10EB7528-1577-8319-B8A9-28EA73DFA9FD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4197043" y="19161550"/>
            <a:ext cx="10755870" cy="2576715"/>
          </a:xfrm>
          <a:prstGeom prst="line">
            <a:avLst/>
          </a:prstGeom>
          <a:ln w="254000">
            <a:solidFill>
              <a:schemeClr val="bg2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Picture 88" descr="Shape, polygon&#10;&#10;Description automatically generated">
            <a:extLst>
              <a:ext uri="{FF2B5EF4-FFF2-40B4-BE49-F238E27FC236}">
                <a16:creationId xmlns:a16="http://schemas.microsoft.com/office/drawing/2014/main" id="{2078C531-4A1C-937C-9A99-CF37E9F1C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601" y="18406887"/>
            <a:ext cx="2480000" cy="2880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4" name="Picture 93" descr="Shape, polygon&#10;&#10;Description automatically generated">
            <a:extLst>
              <a:ext uri="{FF2B5EF4-FFF2-40B4-BE49-F238E27FC236}">
                <a16:creationId xmlns:a16="http://schemas.microsoft.com/office/drawing/2014/main" id="{27A64565-1785-CDDA-D6C8-46308FC334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162" y="27848454"/>
            <a:ext cx="2480000" cy="2880000"/>
          </a:xfrm>
          <a:prstGeom prst="rect">
            <a:avLst/>
          </a:prstGeom>
        </p:spPr>
      </p:pic>
      <p:pic>
        <p:nvPicPr>
          <p:cNvPr id="82" name="Picture 81" descr="Shape, polygon&#10;&#10;Description automatically generated">
            <a:extLst>
              <a:ext uri="{FF2B5EF4-FFF2-40B4-BE49-F238E27FC236}">
                <a16:creationId xmlns:a16="http://schemas.microsoft.com/office/drawing/2014/main" id="{CFD01537-2907-9A3A-3C0D-3628626236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58" y="25716513"/>
            <a:ext cx="248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0311" y="374127"/>
            <a:ext cx="289654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b="1" dirty="0">
                <a:solidFill>
                  <a:srgbClr val="D04D2A"/>
                </a:solidFill>
              </a:rPr>
              <a:t>An Open Software Development-based Ecosystem of      Packages for Metabolomics Data Analysis</a:t>
            </a:r>
            <a:endParaRPr lang="en-US" sz="8000" b="1" dirty="0">
              <a:solidFill>
                <a:srgbClr val="D04D2A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8813" y="41499593"/>
            <a:ext cx="3356528" cy="122932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9312" y="2850615"/>
            <a:ext cx="293686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dirty="0"/>
              <a:t>Johannes Rainer</a:t>
            </a:r>
            <a:r>
              <a:rPr lang="en-US" sz="4200" baseline="30000" dirty="0">
                <a:solidFill>
                  <a:srgbClr val="D04D2A"/>
                </a:solidFill>
              </a:rPr>
              <a:t>1</a:t>
            </a:r>
            <a:r>
              <a:rPr lang="en-US" sz="4200" dirty="0"/>
              <a:t>, Philippine Louail</a:t>
            </a:r>
            <a:r>
              <a:rPr lang="en-US" sz="4200" baseline="30000" dirty="0">
                <a:solidFill>
                  <a:srgbClr val="D04D2A"/>
                </a:solidFill>
              </a:rPr>
              <a:t>1</a:t>
            </a:r>
            <a:r>
              <a:rPr lang="en-US" sz="4200" dirty="0"/>
              <a:t>, Andrea Vicini</a:t>
            </a:r>
            <a:r>
              <a:rPr lang="en-US" sz="4200" baseline="30000" dirty="0">
                <a:solidFill>
                  <a:srgbClr val="D04D2A"/>
                </a:solidFill>
              </a:rPr>
              <a:t>2</a:t>
            </a:r>
            <a:r>
              <a:rPr lang="en-US" sz="4200" dirty="0"/>
              <a:t>, Roger Gine</a:t>
            </a:r>
            <a:r>
              <a:rPr lang="en-US" sz="4200" baseline="30000" dirty="0">
                <a:solidFill>
                  <a:srgbClr val="D04D2A"/>
                </a:solidFill>
              </a:rPr>
              <a:t>3</a:t>
            </a:r>
            <a:r>
              <a:rPr lang="en-US" sz="4200" dirty="0"/>
              <a:t>, Josep M Badia</a:t>
            </a:r>
            <a:r>
              <a:rPr lang="en-US" sz="4200" baseline="30000" dirty="0">
                <a:solidFill>
                  <a:srgbClr val="D04D2A"/>
                </a:solidFill>
              </a:rPr>
              <a:t>3,4 </a:t>
            </a:r>
            <a:r>
              <a:rPr lang="en-US" sz="4200" dirty="0"/>
              <a:t>, Michele Stravs</a:t>
            </a:r>
            <a:r>
              <a:rPr lang="en-US" sz="4200" baseline="30000" dirty="0">
                <a:solidFill>
                  <a:srgbClr val="D04D2A"/>
                </a:solidFill>
              </a:rPr>
              <a:t>5,6</a:t>
            </a:r>
            <a:r>
              <a:rPr lang="en-US" sz="4200" dirty="0"/>
              <a:t>, Mar Garcia-Aloy</a:t>
            </a:r>
            <a:r>
              <a:rPr lang="en-US" sz="4200" baseline="30000" dirty="0">
                <a:solidFill>
                  <a:srgbClr val="D04D2A"/>
                </a:solidFill>
              </a:rPr>
              <a:t>7</a:t>
            </a:r>
            <a:r>
              <a:rPr lang="en-US" sz="4200" dirty="0"/>
              <a:t>, Carolin Huber</a:t>
            </a:r>
            <a:r>
              <a:rPr lang="en-US" sz="4200" baseline="30000" dirty="0">
                <a:solidFill>
                  <a:srgbClr val="D04D2A"/>
                </a:solidFill>
              </a:rPr>
              <a:t>8</a:t>
            </a:r>
            <a:r>
              <a:rPr lang="en-US" sz="4200" dirty="0"/>
              <a:t>, </a:t>
            </a:r>
            <a:r>
              <a:rPr lang="en-US" sz="4200" dirty="0" err="1"/>
              <a:t>Liesa</a:t>
            </a:r>
            <a:r>
              <a:rPr lang="en-US" sz="4200" dirty="0"/>
              <a:t> Salzer</a:t>
            </a:r>
            <a:r>
              <a:rPr lang="en-US" sz="4200" baseline="30000" dirty="0">
                <a:solidFill>
                  <a:srgbClr val="D04D2A"/>
                </a:solidFill>
              </a:rPr>
              <a:t>9</a:t>
            </a:r>
            <a:r>
              <a:rPr lang="en-US" sz="4200" dirty="0"/>
              <a:t>, Jan Stanstrup</a:t>
            </a:r>
            <a:r>
              <a:rPr lang="en-US" sz="4200" baseline="30000" dirty="0">
                <a:solidFill>
                  <a:srgbClr val="D04D2A"/>
                </a:solidFill>
              </a:rPr>
              <a:t>10</a:t>
            </a:r>
            <a:r>
              <a:rPr lang="en-US" sz="4200" dirty="0"/>
              <a:t>, Nir Shahaf</a:t>
            </a:r>
            <a:r>
              <a:rPr lang="en-US" sz="4200" baseline="30000" dirty="0">
                <a:solidFill>
                  <a:srgbClr val="D04D2A"/>
                </a:solidFill>
              </a:rPr>
              <a:t>11</a:t>
            </a:r>
            <a:r>
              <a:rPr lang="en-US" sz="4200" dirty="0"/>
              <a:t>, Christian Panse</a:t>
            </a:r>
            <a:r>
              <a:rPr lang="en-US" sz="4200" baseline="30000" dirty="0">
                <a:solidFill>
                  <a:srgbClr val="D04D2A"/>
                </a:solidFill>
              </a:rPr>
              <a:t>12,13</a:t>
            </a:r>
            <a:r>
              <a:rPr lang="en-US" sz="4200" dirty="0"/>
              <a:t>, Thomas Naake</a:t>
            </a:r>
            <a:r>
              <a:rPr lang="en-US" sz="4200" baseline="30000" dirty="0">
                <a:solidFill>
                  <a:srgbClr val="D04D2A"/>
                </a:solidFill>
              </a:rPr>
              <a:t>14</a:t>
            </a:r>
            <a:r>
              <a:rPr lang="en-US" sz="4200" dirty="0"/>
              <a:t>, William Kumler</a:t>
            </a:r>
            <a:r>
              <a:rPr lang="en-US" sz="4200" baseline="30000" dirty="0">
                <a:solidFill>
                  <a:srgbClr val="D04D2A"/>
                </a:solidFill>
              </a:rPr>
              <a:t>15</a:t>
            </a:r>
            <a:r>
              <a:rPr lang="en-US" sz="4200" dirty="0"/>
              <a:t>, Pablo Vangeenderhuysen</a:t>
            </a:r>
            <a:r>
              <a:rPr lang="en-US" sz="4200" baseline="30000" dirty="0">
                <a:solidFill>
                  <a:srgbClr val="D04D2A"/>
                </a:solidFill>
              </a:rPr>
              <a:t>16</a:t>
            </a:r>
            <a:r>
              <a:rPr lang="en-US" sz="4200" dirty="0"/>
              <a:t>, Carl Brunius</a:t>
            </a:r>
            <a:r>
              <a:rPr lang="en-US" sz="4200" baseline="30000" dirty="0">
                <a:solidFill>
                  <a:srgbClr val="D04D2A"/>
                </a:solidFill>
              </a:rPr>
              <a:t>17</a:t>
            </a:r>
            <a:r>
              <a:rPr lang="en-US" sz="4200" dirty="0"/>
              <a:t>, Helge Hecht</a:t>
            </a:r>
            <a:r>
              <a:rPr lang="en-US" sz="4200" baseline="30000" dirty="0">
                <a:solidFill>
                  <a:srgbClr val="D04D2A"/>
                </a:solidFill>
              </a:rPr>
              <a:t>18</a:t>
            </a:r>
            <a:r>
              <a:rPr lang="en-US" sz="4200" dirty="0"/>
              <a:t>, Steffen Neumann</a:t>
            </a:r>
            <a:r>
              <a:rPr lang="en-US" sz="4200" baseline="30000" dirty="0">
                <a:solidFill>
                  <a:srgbClr val="D04D2A"/>
                </a:solidFill>
              </a:rPr>
              <a:t>19</a:t>
            </a:r>
            <a:r>
              <a:rPr lang="en-US" sz="4200" dirty="0"/>
              <a:t>, Michael Witting</a:t>
            </a:r>
            <a:r>
              <a:rPr lang="en-US" sz="4200" baseline="30000" dirty="0">
                <a:solidFill>
                  <a:srgbClr val="D04D2A"/>
                </a:solidFill>
              </a:rPr>
              <a:t>20</a:t>
            </a:r>
            <a:r>
              <a:rPr lang="en-US" sz="4200" dirty="0"/>
              <a:t>, Sebastian Gibb</a:t>
            </a:r>
            <a:r>
              <a:rPr lang="en-US" sz="4200" baseline="30000" dirty="0">
                <a:solidFill>
                  <a:srgbClr val="D04D2A"/>
                </a:solidFill>
              </a:rPr>
              <a:t>21</a:t>
            </a:r>
            <a:r>
              <a:rPr lang="en-US" sz="4200" dirty="0"/>
              <a:t>, Laurent Gatto</a:t>
            </a:r>
            <a:r>
              <a:rPr lang="en-US" sz="4200" baseline="30000" dirty="0">
                <a:solidFill>
                  <a:srgbClr val="D04D2A"/>
                </a:solidFill>
              </a:rPr>
              <a:t>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5746" y="8306581"/>
            <a:ext cx="411202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b="1" dirty="0">
                <a:solidFill>
                  <a:srgbClr val="D04D2A"/>
                </a:solidFill>
              </a:rPr>
              <a:t>In a nutshell</a:t>
            </a:r>
          </a:p>
        </p:txBody>
      </p:sp>
      <p:sp>
        <p:nvSpPr>
          <p:cNvPr id="69" name="Rectangle 68"/>
          <p:cNvSpPr/>
          <p:nvPr/>
        </p:nvSpPr>
        <p:spPr>
          <a:xfrm rot="-5400000">
            <a:off x="4107601" y="38297214"/>
            <a:ext cx="47446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D04D2A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0B9D5F-D047-9A4D-D490-781FF8D1A662}"/>
              </a:ext>
            </a:extLst>
          </p:cNvPr>
          <p:cNvSpPr txBox="1"/>
          <p:nvPr/>
        </p:nvSpPr>
        <p:spPr>
          <a:xfrm>
            <a:off x="709792" y="9065421"/>
            <a:ext cx="14442604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D04D2A"/>
              </a:buClr>
              <a:buFont typeface="Courier New" panose="02070309020205020404" pitchFamily="49" charset="0"/>
              <a:buChar char="o"/>
            </a:pPr>
            <a:r>
              <a:rPr lang="en-GB" sz="3200" dirty="0"/>
              <a:t>Powerful and flexible infrastructure for efficient analysis of large-scale MS data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D04D2A"/>
              </a:buClr>
              <a:buFont typeface="Courier New" panose="02070309020205020404" pitchFamily="49" charset="0"/>
              <a:buChar char="o"/>
            </a:pPr>
            <a:r>
              <a:rPr lang="en-GB" sz="3200" dirty="0"/>
              <a:t>Open collaborative development of software for MS data analysis:</a:t>
            </a:r>
          </a:p>
          <a:p>
            <a:pPr marL="914400" lvl="1" indent="-457200">
              <a:spcAft>
                <a:spcPts val="600"/>
              </a:spcAft>
              <a:buClr>
                <a:srgbClr val="D04D2A"/>
              </a:buClr>
              <a:buFont typeface="Arial" panose="020B0604020202020204" pitchFamily="34" charset="0"/>
              <a:buChar char="•"/>
            </a:pPr>
            <a:r>
              <a:rPr lang="en-GB" sz="3200" dirty="0"/>
              <a:t>Well documented and thoroughly tested</a:t>
            </a:r>
          </a:p>
          <a:p>
            <a:pPr marL="914400" lvl="1" indent="-457200">
              <a:spcAft>
                <a:spcPts val="600"/>
              </a:spcAft>
              <a:buClr>
                <a:srgbClr val="D04D2A"/>
              </a:buClr>
              <a:buFont typeface="Arial" panose="020B0604020202020204" pitchFamily="34" charset="0"/>
              <a:buChar char="•"/>
            </a:pPr>
            <a:r>
              <a:rPr lang="en-GB" sz="3200" dirty="0"/>
              <a:t>Long-term support and maintenance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D04D2A"/>
              </a:buClr>
              <a:buFont typeface="Courier New" panose="02070309020205020404" pitchFamily="49" charset="0"/>
              <a:buChar char="o"/>
            </a:pPr>
            <a:r>
              <a:rPr lang="en-GB" sz="3200" dirty="0"/>
              <a:t>Modular package ecosystem to allow creation of custom analysis workflows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D04D2A"/>
              </a:buClr>
              <a:buFont typeface="Courier New" panose="02070309020205020404" pitchFamily="49" charset="0"/>
              <a:buChar char="o"/>
            </a:pPr>
            <a:r>
              <a:rPr lang="en-GB" sz="3200" dirty="0"/>
              <a:t>Tightly integrated into</a:t>
            </a:r>
          </a:p>
        </p:txBody>
      </p:sp>
      <p:pic>
        <p:nvPicPr>
          <p:cNvPr id="6" name="Picture 5" descr="A picture containing text, cartoon&#10;&#10;Description automatically generated">
            <a:extLst>
              <a:ext uri="{FF2B5EF4-FFF2-40B4-BE49-F238E27FC236}">
                <a16:creationId xmlns:a16="http://schemas.microsoft.com/office/drawing/2014/main" id="{957887D5-A6E0-A619-CB10-80035621FD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740" y="33628350"/>
            <a:ext cx="2486399" cy="2880000"/>
          </a:xfrm>
          <a:prstGeom prst="rect">
            <a:avLst/>
          </a:prstGeom>
        </p:spPr>
      </p:pic>
      <p:pic>
        <p:nvPicPr>
          <p:cNvPr id="13" name="Picture 12" descr="A picture containing cartoon, bird, design&#10;&#10;Description automatically generated">
            <a:extLst>
              <a:ext uri="{FF2B5EF4-FFF2-40B4-BE49-F238E27FC236}">
                <a16:creationId xmlns:a16="http://schemas.microsoft.com/office/drawing/2014/main" id="{3EDC3019-28F0-A4AC-EED6-28B97D73C2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517" y="33614929"/>
            <a:ext cx="2486399" cy="288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AF07420-F322-90B7-47B7-6339A8DBD371}"/>
              </a:ext>
            </a:extLst>
          </p:cNvPr>
          <p:cNvSpPr txBox="1"/>
          <p:nvPr/>
        </p:nvSpPr>
        <p:spPr>
          <a:xfrm>
            <a:off x="20197891" y="22992762"/>
            <a:ext cx="96366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>
                <a:solidFill>
                  <a:schemeClr val="bg2">
                    <a:lumMod val="25000"/>
                  </a:schemeClr>
                </a:solidFill>
              </a:rPr>
              <a:t>Integration with external tools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E38909-31DD-248A-E2E1-F85BEAD2827D}"/>
              </a:ext>
            </a:extLst>
          </p:cNvPr>
          <p:cNvSpPr txBox="1"/>
          <p:nvPr/>
        </p:nvSpPr>
        <p:spPr>
          <a:xfrm>
            <a:off x="701320" y="14633420"/>
            <a:ext cx="86465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>
                <a:solidFill>
                  <a:schemeClr val="bg2">
                    <a:lumMod val="25000"/>
                  </a:schemeClr>
                </a:solidFill>
              </a:rPr>
              <a:t>LC-MS(/MS) preprocessing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5AD1A0-26FF-D24E-A71B-EE94426A486C}"/>
              </a:ext>
            </a:extLst>
          </p:cNvPr>
          <p:cNvSpPr txBox="1"/>
          <p:nvPr/>
        </p:nvSpPr>
        <p:spPr>
          <a:xfrm>
            <a:off x="19634949" y="12523158"/>
            <a:ext cx="36980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>
                <a:solidFill>
                  <a:schemeClr val="bg2">
                    <a:lumMod val="25000"/>
                  </a:schemeClr>
                </a:solidFill>
              </a:rPr>
              <a:t>Annotation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40B758-2ECD-1DC6-1E6B-6A0B21308F4E}"/>
              </a:ext>
            </a:extLst>
          </p:cNvPr>
          <p:cNvSpPr txBox="1"/>
          <p:nvPr/>
        </p:nvSpPr>
        <p:spPr>
          <a:xfrm>
            <a:off x="757443" y="32612845"/>
            <a:ext cx="76807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>
                <a:solidFill>
                  <a:schemeClr val="bg2">
                    <a:lumMod val="25000"/>
                  </a:schemeClr>
                </a:solidFill>
              </a:rPr>
              <a:t>Core </a:t>
            </a:r>
            <a:r>
              <a:rPr lang="en-GB" sz="6000" i="1" dirty="0">
                <a:solidFill>
                  <a:schemeClr val="bg2">
                    <a:lumMod val="25000"/>
                  </a:schemeClr>
                </a:solidFill>
              </a:rPr>
              <a:t>low-level</a:t>
            </a:r>
            <a:r>
              <a:rPr lang="en-GB" sz="6000" dirty="0">
                <a:solidFill>
                  <a:schemeClr val="bg2">
                    <a:lumMod val="25000"/>
                  </a:schemeClr>
                </a:solidFill>
              </a:rPr>
              <a:t> functions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3695F7-8DD1-490E-2694-B42990368261}"/>
              </a:ext>
            </a:extLst>
          </p:cNvPr>
          <p:cNvSpPr txBox="1"/>
          <p:nvPr/>
        </p:nvSpPr>
        <p:spPr>
          <a:xfrm>
            <a:off x="588392" y="22699934"/>
            <a:ext cx="89584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>
                <a:solidFill>
                  <a:schemeClr val="bg2">
                    <a:lumMod val="25000"/>
                  </a:schemeClr>
                </a:solidFill>
              </a:rPr>
              <a:t>Data I/O and representation</a:t>
            </a:r>
          </a:p>
        </p:txBody>
      </p:sp>
      <p:pic>
        <p:nvPicPr>
          <p:cNvPr id="30" name="Picture 29" descr="A picture containing text, graphic design, art, graphics&#10;&#10;Description automatically generated">
            <a:extLst>
              <a:ext uri="{FF2B5EF4-FFF2-40B4-BE49-F238E27FC236}">
                <a16:creationId xmlns:a16="http://schemas.microsoft.com/office/drawing/2014/main" id="{1BE76021-0F08-8A2B-50EE-ED1D542026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457" y="18422133"/>
            <a:ext cx="2486399" cy="2880000"/>
          </a:xfrm>
          <a:prstGeom prst="rect">
            <a:avLst/>
          </a:prstGeom>
        </p:spPr>
      </p:pic>
      <p:pic>
        <p:nvPicPr>
          <p:cNvPr id="36" name="Picture 35" descr="A red hexago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47085E6C-046A-8657-A17A-20960F3AF79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843" y="16281550"/>
            <a:ext cx="2486400" cy="2880000"/>
          </a:xfrm>
          <a:prstGeom prst="rect">
            <a:avLst/>
          </a:prstGeom>
        </p:spPr>
      </p:pic>
      <p:pic>
        <p:nvPicPr>
          <p:cNvPr id="39" name="Picture 38" descr="A picture containing text, cartoon, screenshot&#10;&#10;Description automatically generated">
            <a:extLst>
              <a:ext uri="{FF2B5EF4-FFF2-40B4-BE49-F238E27FC236}">
                <a16:creationId xmlns:a16="http://schemas.microsoft.com/office/drawing/2014/main" id="{D38060D6-7C7A-108D-6A07-F10D664722C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7336" y="14914127"/>
            <a:ext cx="2486400" cy="2880000"/>
          </a:xfrm>
          <a:prstGeom prst="rect">
            <a:avLst/>
          </a:prstGeom>
        </p:spPr>
      </p:pic>
      <p:pic>
        <p:nvPicPr>
          <p:cNvPr id="42" name="Picture 41" descr="A picture containing text, cartoon, drawing, illustration&#10;&#10;Description automatically generated">
            <a:extLst>
              <a:ext uri="{FF2B5EF4-FFF2-40B4-BE49-F238E27FC236}">
                <a16:creationId xmlns:a16="http://schemas.microsoft.com/office/drawing/2014/main" id="{4A4AC88E-E71A-AE8A-E298-497A9E07E41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1981" y="15982804"/>
            <a:ext cx="2486399" cy="2880000"/>
          </a:xfrm>
          <a:prstGeom prst="rect">
            <a:avLst/>
          </a:prstGeom>
        </p:spPr>
      </p:pic>
      <p:pic>
        <p:nvPicPr>
          <p:cNvPr id="47" name="Picture 46" descr="A picture containing text, cartoon, graphic design, design&#10;&#10;Description automatically generated">
            <a:extLst>
              <a:ext uri="{FF2B5EF4-FFF2-40B4-BE49-F238E27FC236}">
                <a16:creationId xmlns:a16="http://schemas.microsoft.com/office/drawing/2014/main" id="{68A695D3-DC3D-F2E8-C6F0-38C01141B8B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8411" y="13683138"/>
            <a:ext cx="2486399" cy="2880000"/>
          </a:xfrm>
          <a:prstGeom prst="rect">
            <a:avLst/>
          </a:prstGeom>
        </p:spPr>
      </p:pic>
      <p:pic>
        <p:nvPicPr>
          <p:cNvPr id="56" name="Picture 55" descr="A picture containing cartoon, text, clipart&#10;&#10;Description automatically generated">
            <a:extLst>
              <a:ext uri="{FF2B5EF4-FFF2-40B4-BE49-F238E27FC236}">
                <a16:creationId xmlns:a16="http://schemas.microsoft.com/office/drawing/2014/main" id="{2D76BC88-80C6-5BA9-D757-F174B345CF9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4479" y="18971225"/>
            <a:ext cx="4351198" cy="5040000"/>
          </a:xfrm>
          <a:prstGeom prst="rect">
            <a:avLst/>
          </a:prstGeom>
        </p:spPr>
      </p:pic>
      <p:pic>
        <p:nvPicPr>
          <p:cNvPr id="58" name="Picture 57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0543FEC5-5E8B-6E9C-A161-82BCA6BB13A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030" y="23603162"/>
            <a:ext cx="2486399" cy="2880000"/>
          </a:xfrm>
          <a:prstGeom prst="rect">
            <a:avLst/>
          </a:prstGeom>
        </p:spPr>
      </p:pic>
      <p:pic>
        <p:nvPicPr>
          <p:cNvPr id="71" name="Picture 70" descr="A picture containing text, logo, graphics, graphic design&#10;&#10;Description automatically generated">
            <a:extLst>
              <a:ext uri="{FF2B5EF4-FFF2-40B4-BE49-F238E27FC236}">
                <a16:creationId xmlns:a16="http://schemas.microsoft.com/office/drawing/2014/main" id="{A14E1751-9D02-E3DC-A9E8-08FDD5868EA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362" y="25713693"/>
            <a:ext cx="2486399" cy="2880000"/>
          </a:xfrm>
          <a:prstGeom prst="rect">
            <a:avLst/>
          </a:prstGeom>
        </p:spPr>
      </p:pic>
      <p:pic>
        <p:nvPicPr>
          <p:cNvPr id="73" name="Picture 72" descr="A hexagon with a person opening his shirt&#10;&#10;Description automatically generated with low confidence">
            <a:extLst>
              <a:ext uri="{FF2B5EF4-FFF2-40B4-BE49-F238E27FC236}">
                <a16:creationId xmlns:a16="http://schemas.microsoft.com/office/drawing/2014/main" id="{DBFD8193-FE67-417B-2BA4-87C4F7AF570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546" y="27832574"/>
            <a:ext cx="2486400" cy="2880000"/>
          </a:xfrm>
          <a:prstGeom prst="rect">
            <a:avLst/>
          </a:prstGeom>
        </p:spPr>
      </p:pic>
      <p:pic>
        <p:nvPicPr>
          <p:cNvPr id="75" name="Picture 74" descr="A logo of a person opening his shirt&#10;&#10;Description automatically generated with low confidence">
            <a:extLst>
              <a:ext uri="{FF2B5EF4-FFF2-40B4-BE49-F238E27FC236}">
                <a16:creationId xmlns:a16="http://schemas.microsoft.com/office/drawing/2014/main" id="{4C1F288E-FC1B-ACC2-9070-F0B8CC0246BD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361" y="25739093"/>
            <a:ext cx="2486400" cy="2880000"/>
          </a:xfrm>
          <a:prstGeom prst="rect">
            <a:avLst/>
          </a:prstGeom>
        </p:spPr>
      </p:pic>
      <p:pic>
        <p:nvPicPr>
          <p:cNvPr id="77" name="Picture 76" descr="A picture containing graphics, graphic design, font, logo&#10;&#10;Description automatically generated">
            <a:extLst>
              <a:ext uri="{FF2B5EF4-FFF2-40B4-BE49-F238E27FC236}">
                <a16:creationId xmlns:a16="http://schemas.microsoft.com/office/drawing/2014/main" id="{3CDCA911-C25F-E8A8-F830-4842DE725AD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40" y="40435142"/>
            <a:ext cx="4526289" cy="2267717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DEE3A49C-9BC0-2588-24AF-5A8A8EC9CE03}"/>
              </a:ext>
            </a:extLst>
          </p:cNvPr>
          <p:cNvSpPr txBox="1"/>
          <p:nvPr/>
        </p:nvSpPr>
        <p:spPr>
          <a:xfrm>
            <a:off x="6789422" y="38673284"/>
            <a:ext cx="21622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 </a:t>
            </a:r>
            <a:r>
              <a:rPr lang="en-GB" sz="2400" dirty="0" err="1"/>
              <a:t>MsQuality</a:t>
            </a:r>
            <a:r>
              <a:rPr lang="en-GB" sz="2400" dirty="0"/>
              <a:t> – an interoperable open-source package for the calculation of standardized quality metrics of mass spectrometry data. </a:t>
            </a:r>
            <a:r>
              <a:rPr lang="en-GB" sz="2400" dirty="0" err="1"/>
              <a:t>Naake</a:t>
            </a:r>
            <a:r>
              <a:rPr lang="en-GB" sz="2400" dirty="0"/>
              <a:t> T et al. Bioinformatics 2023. </a:t>
            </a:r>
            <a:r>
              <a:rPr lang="en-GB" sz="2400" dirty="0">
                <a:hlinkClick r:id="rId17"/>
              </a:rPr>
              <a:t>https://doi.org/10.1093/bioinformatics/btad618</a:t>
            </a:r>
            <a:endParaRPr lang="en-GB" sz="2400" dirty="0"/>
          </a:p>
          <a:p>
            <a:r>
              <a:rPr lang="en-GB" sz="2400" dirty="0"/>
              <a:t>[2] A Modular and Expandable Ecosystem for Metabolomics Data Annotation in R. Rainer J et al. </a:t>
            </a:r>
            <a:r>
              <a:rPr lang="en-GB" sz="2400" i="1" dirty="0"/>
              <a:t>Metabolites</a:t>
            </a:r>
            <a:r>
              <a:rPr lang="en-GB" sz="2400" dirty="0"/>
              <a:t> 2022. </a:t>
            </a:r>
            <a:r>
              <a:rPr lang="en-GB" sz="2400" dirty="0">
                <a:hlinkClick r:id="rId18"/>
              </a:rPr>
              <a:t>https://doi.org/10.3390/metabo12020173</a:t>
            </a:r>
            <a:endParaRPr lang="en-GB" sz="2400" dirty="0"/>
          </a:p>
          <a:p>
            <a:r>
              <a:rPr lang="en-GB" sz="2400" dirty="0"/>
              <a:t>[3] The </a:t>
            </a:r>
            <a:r>
              <a:rPr lang="en-GB" sz="2400" dirty="0" err="1"/>
              <a:t>rawrr</a:t>
            </a:r>
            <a:r>
              <a:rPr lang="en-GB" sz="2400" dirty="0"/>
              <a:t> R Package: Direct Access to Orbitrap Data and Beyond. </a:t>
            </a:r>
            <a:r>
              <a:rPr lang="en-GB" sz="2400" dirty="0" err="1"/>
              <a:t>Kockmann</a:t>
            </a:r>
            <a:r>
              <a:rPr lang="en-GB" sz="2400" dirty="0"/>
              <a:t> T et al. Journal of Proteome Research 2021. </a:t>
            </a:r>
            <a:r>
              <a:rPr lang="en-GB" sz="2400" dirty="0">
                <a:hlinkClick r:id="rId19"/>
              </a:rPr>
              <a:t>https://doi.org/10.1021/acs.jproteome.0c00866</a:t>
            </a:r>
            <a:endParaRPr lang="en-GB" sz="2400" dirty="0"/>
          </a:p>
          <a:p>
            <a:r>
              <a:rPr lang="en-GB" sz="2400" dirty="0"/>
              <a:t>[4] </a:t>
            </a:r>
            <a:r>
              <a:rPr lang="en-GB" sz="2400" dirty="0" err="1"/>
              <a:t>matchms</a:t>
            </a:r>
            <a:r>
              <a:rPr lang="en-GB" sz="2400" dirty="0"/>
              <a:t> – processing and similarity evaluation of mass spectrometry data. Huber F et al. JOSS 2020. </a:t>
            </a:r>
            <a:r>
              <a:rPr lang="en-GB" sz="2400" dirty="0">
                <a:hlinkClick r:id="rId20"/>
              </a:rPr>
              <a:t>https://doi.org/10.21105/joss.02411</a:t>
            </a:r>
            <a:endParaRPr lang="en-GB" sz="2400" dirty="0"/>
          </a:p>
          <a:p>
            <a:r>
              <a:rPr lang="en-GB" sz="2400" dirty="0"/>
              <a:t>[5] A Universal Language for Finding Mass Spectrometry Data Patterns. Jarmusch AK et al. </a:t>
            </a:r>
            <a:r>
              <a:rPr lang="en-GB" sz="2400" dirty="0" err="1"/>
              <a:t>bioRxiv</a:t>
            </a:r>
            <a:r>
              <a:rPr lang="en-GB" sz="2400" dirty="0"/>
              <a:t> 2022. </a:t>
            </a:r>
            <a:r>
              <a:rPr lang="en-GB" sz="2400" dirty="0">
                <a:hlinkClick r:id="rId21"/>
              </a:rPr>
              <a:t>https://doi.org/10.1101/2022.08.06.503000</a:t>
            </a:r>
            <a:endParaRPr lang="en-GB" sz="2400" dirty="0"/>
          </a:p>
          <a:p>
            <a:endParaRPr lang="en-GB" sz="2400" dirty="0"/>
          </a:p>
        </p:txBody>
      </p:sp>
      <p:pic>
        <p:nvPicPr>
          <p:cNvPr id="85" name="Picture 84" descr="Logo, company name&#10;&#10;Description automatically generated">
            <a:extLst>
              <a:ext uri="{FF2B5EF4-FFF2-40B4-BE49-F238E27FC236}">
                <a16:creationId xmlns:a16="http://schemas.microsoft.com/office/drawing/2014/main" id="{D913701C-DE84-2062-2208-B7DBBA25C32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077" y="24520782"/>
            <a:ext cx="3743122" cy="1260000"/>
          </a:xfrm>
          <a:prstGeom prst="rect">
            <a:avLst/>
          </a:prstGeom>
        </p:spPr>
      </p:pic>
      <p:pic>
        <p:nvPicPr>
          <p:cNvPr id="86" name="Picture 85" descr="Logo&#10;&#10;Description automatically generated">
            <a:extLst>
              <a:ext uri="{FF2B5EF4-FFF2-40B4-BE49-F238E27FC236}">
                <a16:creationId xmlns:a16="http://schemas.microsoft.com/office/drawing/2014/main" id="{A81212ED-6A4A-A798-DDA6-011A62946914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9535" y="28652891"/>
            <a:ext cx="3960001" cy="144000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1B2596FD-D6DF-FE9B-2029-88CF4003923D}"/>
              </a:ext>
            </a:extLst>
          </p:cNvPr>
          <p:cNvSpPr txBox="1"/>
          <p:nvPr/>
        </p:nvSpPr>
        <p:spPr>
          <a:xfrm>
            <a:off x="696426" y="26838435"/>
            <a:ext cx="2585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/>
              <a:t>MsBackendTimsTof</a:t>
            </a:r>
            <a:endParaRPr lang="en-GB" sz="2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3D14326-6574-8909-40AC-0DF951AB21C8}"/>
              </a:ext>
            </a:extLst>
          </p:cNvPr>
          <p:cNvSpPr txBox="1"/>
          <p:nvPr/>
        </p:nvSpPr>
        <p:spPr>
          <a:xfrm>
            <a:off x="4246428" y="19338650"/>
            <a:ext cx="23214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err="1"/>
              <a:t>MsQuality</a:t>
            </a:r>
            <a:endParaRPr lang="en-GB" sz="40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843833D-807A-B98E-3D1F-9AF7C7266090}"/>
              </a:ext>
            </a:extLst>
          </p:cNvPr>
          <p:cNvSpPr txBox="1"/>
          <p:nvPr/>
        </p:nvSpPr>
        <p:spPr>
          <a:xfrm>
            <a:off x="505460" y="4960885"/>
            <a:ext cx="293686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aseline="30000" dirty="0">
                <a:solidFill>
                  <a:srgbClr val="D04D2A"/>
                </a:solidFill>
              </a:rPr>
              <a:t>1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Institute for Biomedicine,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Eurac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Research, Italy. </a:t>
            </a:r>
            <a:r>
              <a:rPr lang="en-US" sz="2400" baseline="30000" dirty="0">
                <a:solidFill>
                  <a:srgbClr val="D04D2A"/>
                </a:solidFill>
              </a:rPr>
              <a:t>2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Computational Biology and Bioinformatics, de Duve Institute,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UCLouvain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Belgium. </a:t>
            </a:r>
            <a:r>
              <a:rPr lang="en-US" sz="2400" baseline="30000" dirty="0">
                <a:solidFill>
                  <a:srgbClr val="D04D2A"/>
                </a:solidFill>
              </a:rPr>
              <a:t>3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Department of Electronic Engineering &amp; IISPV,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Universitat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Rovira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Virgili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Spain. </a:t>
            </a:r>
            <a:r>
              <a:rPr lang="en-US" sz="2400" baseline="30000" dirty="0">
                <a:solidFill>
                  <a:srgbClr val="D04D2A"/>
                </a:solidFill>
              </a:rPr>
              <a:t>4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CIBERDERM, Instituto de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Salud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Carlos III, Spain. </a:t>
            </a:r>
            <a:r>
              <a:rPr lang="en-US" sz="2400" baseline="30000" dirty="0">
                <a:solidFill>
                  <a:srgbClr val="D04D2A"/>
                </a:solidFill>
              </a:rPr>
              <a:t>5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Department of Environmental Chemistry, Switzerland. </a:t>
            </a:r>
            <a:r>
              <a:rPr lang="en-US" sz="2400" baseline="30000" dirty="0">
                <a:solidFill>
                  <a:srgbClr val="D04D2A"/>
                </a:solidFill>
              </a:rPr>
              <a:t>6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Institute of Molecular Systems Biology, ETH Zurich, Switzerland. </a:t>
            </a:r>
            <a:r>
              <a:rPr lang="en-US" sz="2400" baseline="30000" dirty="0">
                <a:solidFill>
                  <a:srgbClr val="D04D2A"/>
                </a:solidFill>
              </a:rPr>
              <a:t>7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Metabolomics Unit, Research and Innovation Centre, Fondazione Edmund Mach, Italy. </a:t>
            </a:r>
            <a:r>
              <a:rPr lang="en-US" sz="2400" baseline="30000" dirty="0">
                <a:solidFill>
                  <a:srgbClr val="D04D2A"/>
                </a:solidFill>
              </a:rPr>
              <a:t>8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Department of Effect Directed Analysis, Helmholtz Center for Environmental Research, Germany. </a:t>
            </a:r>
            <a:r>
              <a:rPr lang="en-US" sz="2400" baseline="30000" dirty="0">
                <a:solidFill>
                  <a:srgbClr val="D04D2A"/>
                </a:solidFill>
              </a:rPr>
              <a:t>9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Research Unit Analytical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BioGeoChemistry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Helmholtz Munich, Germany. </a:t>
            </a:r>
            <a:r>
              <a:rPr lang="en-US" sz="2400" baseline="30000" dirty="0">
                <a:solidFill>
                  <a:srgbClr val="D04D2A"/>
                </a:solidFill>
              </a:rPr>
              <a:t>10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Department of Nutrition, Exercise and Sports, University of Copenhagen, Denmark. </a:t>
            </a:r>
            <a:r>
              <a:rPr lang="en-US" sz="2400" baseline="30000" dirty="0">
                <a:solidFill>
                  <a:srgbClr val="D04D2A"/>
                </a:solidFill>
              </a:rPr>
              <a:t>11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Department of Plant and Environmental Sciences, Weizmann Institute of Science, Israel. </a:t>
            </a:r>
            <a:r>
              <a:rPr lang="en-US" sz="2400" baseline="30000" dirty="0">
                <a:solidFill>
                  <a:srgbClr val="D04D2A"/>
                </a:solidFill>
              </a:rPr>
              <a:t>12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Functional Genomics Center Zurich, University of Zurich/ETH Zurich, Switzerland. </a:t>
            </a:r>
            <a:r>
              <a:rPr lang="en-US" sz="2400" baseline="30000" dirty="0">
                <a:solidFill>
                  <a:srgbClr val="D04D2A"/>
                </a:solidFill>
              </a:rPr>
              <a:t>13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Swiss Institute of Bioinformatics, Switzerland. </a:t>
            </a:r>
            <a:r>
              <a:rPr lang="en-US" sz="2400" baseline="30000" dirty="0">
                <a:solidFill>
                  <a:srgbClr val="D04D2A"/>
                </a:solidFill>
              </a:rPr>
              <a:t>14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Genome Biology Unit, EMBL, Germany. </a:t>
            </a:r>
            <a:r>
              <a:rPr lang="en-US" sz="2400" baseline="30000" dirty="0">
                <a:solidFill>
                  <a:srgbClr val="D04D2A"/>
                </a:solidFill>
              </a:rPr>
              <a:t>15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Ingals Lab, School of Oceanography, University of Washington, USA. </a:t>
            </a:r>
            <a:r>
              <a:rPr lang="en-US" sz="2400" baseline="30000" dirty="0">
                <a:solidFill>
                  <a:srgbClr val="D04D2A"/>
                </a:solidFill>
              </a:rPr>
              <a:t>16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Laboratory of Integrative Metabolomics, Department of Translational Physiology, Infectiology and Public Health, Faculty of Veterinary Medicine, Ghent University, Belgium. </a:t>
            </a:r>
            <a:r>
              <a:rPr lang="en-US" sz="2400" baseline="30000" dirty="0">
                <a:solidFill>
                  <a:srgbClr val="D04D2A"/>
                </a:solidFill>
              </a:rPr>
              <a:t>17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Department of Life Sciences, Chalmers University of Technology, Sweden. </a:t>
            </a:r>
            <a:r>
              <a:rPr lang="en-US" sz="2400" baseline="30000" dirty="0">
                <a:solidFill>
                  <a:srgbClr val="D04D2A"/>
                </a:solidFill>
              </a:rPr>
              <a:t>18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RECETOX, Faculty of Science, Masaryk University, Czech Republic. </a:t>
            </a:r>
            <a:r>
              <a:rPr lang="en-US" sz="2400" baseline="30000" dirty="0">
                <a:solidFill>
                  <a:srgbClr val="D04D2A"/>
                </a:solidFill>
              </a:rPr>
              <a:t>19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Computational Plant Biochemistry,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MetaCom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Leibniz Institute of Plant Biochemistry, Germany. </a:t>
            </a:r>
            <a:r>
              <a:rPr lang="en-US" sz="2400" baseline="30000" dirty="0">
                <a:solidFill>
                  <a:srgbClr val="D04D2A"/>
                </a:solidFill>
              </a:rPr>
              <a:t>20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Metabolomics and Proteomics Core, Helmholtz Munich, Germany. </a:t>
            </a:r>
            <a:r>
              <a:rPr lang="en-US" sz="2400" baseline="30000" dirty="0">
                <a:solidFill>
                  <a:srgbClr val="D04D2A"/>
                </a:solidFill>
              </a:rPr>
              <a:t>21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Anesthesiology and Intensive Care Medicine, University Hospital Greifswald, Germany.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1D58DE0-AAE6-54E5-5C00-CC823EBA9097}"/>
              </a:ext>
            </a:extLst>
          </p:cNvPr>
          <p:cNvSpPr txBox="1"/>
          <p:nvPr/>
        </p:nvSpPr>
        <p:spPr>
          <a:xfrm>
            <a:off x="2025171" y="28817280"/>
            <a:ext cx="234320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err="1"/>
              <a:t>MsBackend</a:t>
            </a:r>
            <a:endParaRPr lang="en-GB" sz="2800" dirty="0"/>
          </a:p>
          <a:p>
            <a:r>
              <a:rPr lang="en-GB" sz="2800" dirty="0" err="1"/>
              <a:t>RawFileReader</a:t>
            </a:r>
            <a:endParaRPr lang="en-GB" sz="2800" dirty="0"/>
          </a:p>
        </p:txBody>
      </p:sp>
      <p:pic>
        <p:nvPicPr>
          <p:cNvPr id="84" name="Picture 83" descr="Logo&#10;&#10;Description automatically generated with low confidence">
            <a:extLst>
              <a:ext uri="{FF2B5EF4-FFF2-40B4-BE49-F238E27FC236}">
                <a16:creationId xmlns:a16="http://schemas.microsoft.com/office/drawing/2014/main" id="{51927DCB-6513-50B3-DDD2-BB71F3DA484E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1861" y="25642896"/>
            <a:ext cx="4500000" cy="72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5CE7E2-BB20-EFAE-8FF5-E297D80212E7}"/>
              </a:ext>
            </a:extLst>
          </p:cNvPr>
          <p:cNvSpPr txBox="1"/>
          <p:nvPr/>
        </p:nvSpPr>
        <p:spPr>
          <a:xfrm>
            <a:off x="5875022" y="15664662"/>
            <a:ext cx="4623702" cy="1569660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Quality assessment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Chromatographic peak detection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Alignment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Correspondence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5776E-E8C7-0D8F-97CD-44DF4E0EE345}"/>
              </a:ext>
            </a:extLst>
          </p:cNvPr>
          <p:cNvSpPr txBox="1"/>
          <p:nvPr/>
        </p:nvSpPr>
        <p:spPr>
          <a:xfrm>
            <a:off x="24376656" y="14773331"/>
            <a:ext cx="47977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MS1 and MS2-based annotation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Fragment spectra matching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877EE-A676-5187-FC79-8EDD2E334164}"/>
              </a:ext>
            </a:extLst>
          </p:cNvPr>
          <p:cNvSpPr txBox="1"/>
          <p:nvPr/>
        </p:nvSpPr>
        <p:spPr>
          <a:xfrm>
            <a:off x="23956585" y="26905786"/>
            <a:ext cx="54853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Integrate/use </a:t>
            </a:r>
            <a:r>
              <a:rPr lang="en-GB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mstchms</a:t>
            </a: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-based similarity scores for fragment spectra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Query MS data using the </a:t>
            </a:r>
            <a:r>
              <a:rPr lang="en-GB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MassQL</a:t>
            </a: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query language in 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85721-8A67-9AE4-165B-A5B556C61FAF}"/>
              </a:ext>
            </a:extLst>
          </p:cNvPr>
          <p:cNvSpPr txBox="1"/>
          <p:nvPr/>
        </p:nvSpPr>
        <p:spPr>
          <a:xfrm>
            <a:off x="4633515" y="23812675"/>
            <a:ext cx="48938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Support for additional MS data file formats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Different data </a:t>
            </a:r>
            <a:r>
              <a:rPr lang="en-GB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representations</a:t>
            </a: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Optimized for performance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Optimized for large scale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9689D-BD62-C038-E5EF-C20C4BD4633C}"/>
              </a:ext>
            </a:extLst>
          </p:cNvPr>
          <p:cNvSpPr txBox="1"/>
          <p:nvPr/>
        </p:nvSpPr>
        <p:spPr>
          <a:xfrm>
            <a:off x="6161644" y="33907170"/>
            <a:ext cx="47977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Spectra similarity scores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Peak alignment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Handling chemical formulas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Isotope peak prediction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Adduct/exact mass calculations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etc</a:t>
            </a:r>
          </a:p>
        </p:txBody>
      </p:sp>
      <p:pic>
        <p:nvPicPr>
          <p:cNvPr id="43" name="Picture 42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49A6524C-60C6-910D-96F8-D901826A027F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2556" y="41881943"/>
            <a:ext cx="720000" cy="7200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339294C-2DF0-0C22-63D2-0B79AE54E192}"/>
              </a:ext>
            </a:extLst>
          </p:cNvPr>
          <p:cNvSpPr txBox="1"/>
          <p:nvPr/>
        </p:nvSpPr>
        <p:spPr>
          <a:xfrm>
            <a:off x="10687409" y="42011110"/>
            <a:ext cx="3434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@jorainer@fosstodon.org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BF092D-4D93-61C8-F0AD-92374253174A}"/>
              </a:ext>
            </a:extLst>
          </p:cNvPr>
          <p:cNvSpPr txBox="1"/>
          <p:nvPr/>
        </p:nvSpPr>
        <p:spPr>
          <a:xfrm>
            <a:off x="5214219" y="2071466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[1]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ECCBB5-C8C4-0650-BA98-CD7A1FCC446C}"/>
              </a:ext>
            </a:extLst>
          </p:cNvPr>
          <p:cNvSpPr txBox="1"/>
          <p:nvPr/>
        </p:nvSpPr>
        <p:spPr>
          <a:xfrm>
            <a:off x="23161636" y="1301578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[2]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F41BC6-36ED-3657-BE6F-0B74D6969D8F}"/>
              </a:ext>
            </a:extLst>
          </p:cNvPr>
          <p:cNvSpPr txBox="1"/>
          <p:nvPr/>
        </p:nvSpPr>
        <p:spPr>
          <a:xfrm>
            <a:off x="2928326" y="2993771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[3]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E0F0FC-46F0-3319-7CA4-E79036CA3B05}"/>
              </a:ext>
            </a:extLst>
          </p:cNvPr>
          <p:cNvSpPr txBox="1"/>
          <p:nvPr/>
        </p:nvSpPr>
        <p:spPr>
          <a:xfrm>
            <a:off x="29381760" y="26039937"/>
            <a:ext cx="44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[4]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E7067F-A7AD-7F46-48E8-1E12C4355145}"/>
              </a:ext>
            </a:extLst>
          </p:cNvPr>
          <p:cNvSpPr txBox="1"/>
          <p:nvPr/>
        </p:nvSpPr>
        <p:spPr>
          <a:xfrm>
            <a:off x="28543962" y="29408318"/>
            <a:ext cx="44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[5]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3C72F8-6DAD-1D28-4538-09D31DE55C37}"/>
              </a:ext>
            </a:extLst>
          </p:cNvPr>
          <p:cNvSpPr txBox="1"/>
          <p:nvPr/>
        </p:nvSpPr>
        <p:spPr>
          <a:xfrm>
            <a:off x="15374925" y="42032764"/>
            <a:ext cx="63997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hlinkClick r:id="rId26"/>
              </a:rPr>
              <a:t>https://zenodo.org/doi/10.5281/zenodo.7936786</a:t>
            </a:r>
            <a:endParaRPr lang="en-GB" sz="2400" dirty="0"/>
          </a:p>
          <a:p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14864-CA98-FD0B-431A-023A8449B8FA}"/>
              </a:ext>
            </a:extLst>
          </p:cNvPr>
          <p:cNvSpPr txBox="1"/>
          <p:nvPr/>
        </p:nvSpPr>
        <p:spPr>
          <a:xfrm>
            <a:off x="13337606" y="34594839"/>
            <a:ext cx="14442604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Clr>
                <a:srgbClr val="D04D2A"/>
              </a:buClr>
              <a:buFont typeface="Courier New" panose="02070309020205020404" pitchFamily="49" charset="0"/>
              <a:buChar char="o"/>
            </a:pPr>
            <a:r>
              <a:rPr lang="en-GB" sz="3600" dirty="0"/>
              <a:t>Continue integration of R/Bioconductor packages and external software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Clr>
                <a:srgbClr val="D04D2A"/>
              </a:buClr>
              <a:buFont typeface="Courier New" panose="02070309020205020404" pitchFamily="49" charset="0"/>
              <a:buChar char="o"/>
            </a:pPr>
            <a:r>
              <a:rPr lang="en-GB" sz="3600" dirty="0"/>
              <a:t>Emphasis on seamless integration to improve user experience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Clr>
                <a:srgbClr val="D04D2A"/>
              </a:buClr>
              <a:buFont typeface="Courier New" panose="02070309020205020404" pitchFamily="49" charset="0"/>
              <a:buChar char="o"/>
            </a:pPr>
            <a:r>
              <a:rPr lang="en-GB" sz="3600" dirty="0"/>
              <a:t>Open for contributions from the community -&gt; reach out via </a:t>
            </a:r>
            <a:r>
              <a:rPr lang="en-GB" sz="3600" dirty="0" err="1"/>
              <a:t>github</a:t>
            </a:r>
            <a:r>
              <a:rPr lang="en-GB" sz="3600" dirty="0"/>
              <a:t> issue or email</a:t>
            </a:r>
          </a:p>
        </p:txBody>
      </p:sp>
      <p:pic>
        <p:nvPicPr>
          <p:cNvPr id="31" name="Picture 30" descr="A blue hexagon with a white object on it&#10;&#10;Description automatically generated">
            <a:extLst>
              <a:ext uri="{FF2B5EF4-FFF2-40B4-BE49-F238E27FC236}">
                <a16:creationId xmlns:a16="http://schemas.microsoft.com/office/drawing/2014/main" id="{72BAFB04-7AA9-6339-54E0-B2A52DA5F28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2970" y="18115700"/>
            <a:ext cx="2499532" cy="28800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47111D0-039A-FC16-D4D8-763EEAEB7A90}"/>
              </a:ext>
            </a:extLst>
          </p:cNvPr>
          <p:cNvSpPr txBox="1"/>
          <p:nvPr/>
        </p:nvSpPr>
        <p:spPr>
          <a:xfrm>
            <a:off x="23719373" y="16618415"/>
            <a:ext cx="47977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Reference libraries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In-house databases through </a:t>
            </a:r>
            <a:r>
              <a:rPr lang="en-GB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CompoundDb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MassBank</a:t>
            </a: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through Bioconductor’s </a:t>
            </a:r>
            <a:r>
              <a:rPr lang="en-GB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AnnotationHub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Import </a:t>
            </a:r>
            <a:r>
              <a:rPr lang="en-GB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GNPS</a:t>
            </a: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or others from MGF, MSP files.</a:t>
            </a:r>
          </a:p>
        </p:txBody>
      </p:sp>
      <p:pic>
        <p:nvPicPr>
          <p:cNvPr id="33" name="Picture 32" descr="Logo&#10;&#10;Description automatically generated">
            <a:extLst>
              <a:ext uri="{FF2B5EF4-FFF2-40B4-BE49-F238E27FC236}">
                <a16:creationId xmlns:a16="http://schemas.microsoft.com/office/drawing/2014/main" id="{C38E93F2-1630-89C7-1D91-4C35CB5CC4C4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7072" y="486064"/>
            <a:ext cx="1163571" cy="900000"/>
          </a:xfrm>
          <a:prstGeom prst="rect">
            <a:avLst/>
          </a:prstGeom>
        </p:spPr>
      </p:pic>
      <p:pic>
        <p:nvPicPr>
          <p:cNvPr id="35" name="Picture 34" descr="Logo&#10;&#10;Description automatically generated">
            <a:extLst>
              <a:ext uri="{FF2B5EF4-FFF2-40B4-BE49-F238E27FC236}">
                <a16:creationId xmlns:a16="http://schemas.microsoft.com/office/drawing/2014/main" id="{B9EB485E-683E-1031-05DF-F44B4236685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176" y="12238829"/>
            <a:ext cx="2841579" cy="82070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C06E948-0FC4-E76C-DF8D-3428D9AB7328}"/>
              </a:ext>
            </a:extLst>
          </p:cNvPr>
          <p:cNvSpPr txBox="1"/>
          <p:nvPr/>
        </p:nvSpPr>
        <p:spPr>
          <a:xfrm>
            <a:off x="12262844" y="13771337"/>
            <a:ext cx="45784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>
                <a:solidFill>
                  <a:schemeClr val="bg2">
                    <a:lumMod val="25000"/>
                  </a:schemeClr>
                </a:solidFill>
              </a:rPr>
              <a:t>Compounding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90DE81-E1AD-41DB-0D0B-3F90D20CC2B1}"/>
              </a:ext>
            </a:extLst>
          </p:cNvPr>
          <p:cNvSpPr txBox="1"/>
          <p:nvPr/>
        </p:nvSpPr>
        <p:spPr>
          <a:xfrm>
            <a:off x="15062904" y="14977732"/>
            <a:ext cx="29640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adducts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isotopes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FD12613-D63E-2FA0-7BF6-CB609DFA31E3}"/>
              </a:ext>
            </a:extLst>
          </p:cNvPr>
          <p:cNvSpPr/>
          <p:nvPr/>
        </p:nvSpPr>
        <p:spPr>
          <a:xfrm>
            <a:off x="555500" y="22748369"/>
            <a:ext cx="8907567" cy="8147901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00C1E7E-F57E-F7DC-A186-E48AB7640F9B}"/>
              </a:ext>
            </a:extLst>
          </p:cNvPr>
          <p:cNvSpPr/>
          <p:nvPr/>
        </p:nvSpPr>
        <p:spPr>
          <a:xfrm>
            <a:off x="19436801" y="12544430"/>
            <a:ext cx="9614957" cy="8697027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357E952-7E7B-8113-8E0A-B336E8CEE80E}"/>
              </a:ext>
            </a:extLst>
          </p:cNvPr>
          <p:cNvSpPr/>
          <p:nvPr/>
        </p:nvSpPr>
        <p:spPr>
          <a:xfrm>
            <a:off x="12051233" y="13782123"/>
            <a:ext cx="5975737" cy="4314194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A6A07CF-DA24-A7EB-E7BA-ADAB160C8CD1}"/>
              </a:ext>
            </a:extLst>
          </p:cNvPr>
          <p:cNvSpPr/>
          <p:nvPr/>
        </p:nvSpPr>
        <p:spPr>
          <a:xfrm>
            <a:off x="20159851" y="22900324"/>
            <a:ext cx="9614957" cy="7479491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F04CE03-D94E-C546-AD45-D8A8DCE40B1B}"/>
              </a:ext>
            </a:extLst>
          </p:cNvPr>
          <p:cNvSpPr/>
          <p:nvPr/>
        </p:nvSpPr>
        <p:spPr>
          <a:xfrm>
            <a:off x="657861" y="14677472"/>
            <a:ext cx="9914696" cy="6771672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9F690B9-E723-911E-94E0-330CEE7DFB26}"/>
              </a:ext>
            </a:extLst>
          </p:cNvPr>
          <p:cNvSpPr/>
          <p:nvPr/>
        </p:nvSpPr>
        <p:spPr>
          <a:xfrm>
            <a:off x="648538" y="32579473"/>
            <a:ext cx="10124787" cy="4129878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4A56BA9-DF94-7562-ACBF-99AC36D44E5D}"/>
              </a:ext>
            </a:extLst>
          </p:cNvPr>
          <p:cNvSpPr/>
          <p:nvPr/>
        </p:nvSpPr>
        <p:spPr>
          <a:xfrm>
            <a:off x="13670497" y="33817729"/>
            <a:ext cx="277031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b="1" dirty="0">
                <a:solidFill>
                  <a:srgbClr val="D04D2A"/>
                </a:solidFill>
              </a:rPr>
              <a:t>Outlook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8D2D982-849D-3522-5EA8-635FA9B73EED}"/>
              </a:ext>
            </a:extLst>
          </p:cNvPr>
          <p:cNvSpPr txBox="1"/>
          <p:nvPr/>
        </p:nvSpPr>
        <p:spPr>
          <a:xfrm>
            <a:off x="15769608" y="28221889"/>
            <a:ext cx="4004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MS data handling, processing, filtering, aggregating, comparing, visualizing…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542B8-B1A9-2666-49EE-F61470C36339}"/>
              </a:ext>
            </a:extLst>
          </p:cNvPr>
          <p:cNvSpPr/>
          <p:nvPr/>
        </p:nvSpPr>
        <p:spPr>
          <a:xfrm>
            <a:off x="20173707" y="8557116"/>
            <a:ext cx="28692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D04D2A"/>
                </a:solidFill>
              </a:rPr>
              <a:t>Get in touch/contribute</a:t>
            </a:r>
          </a:p>
        </p:txBody>
      </p:sp>
      <p:pic>
        <p:nvPicPr>
          <p:cNvPr id="26" name="Picture 25" descr="A computer screen shot of several boxes&#10;&#10;Description automatically generated with medium confidence">
            <a:extLst>
              <a:ext uri="{FF2B5EF4-FFF2-40B4-BE49-F238E27FC236}">
                <a16:creationId xmlns:a16="http://schemas.microsoft.com/office/drawing/2014/main" id="{6043C3B6-21BB-38EB-1BCA-FE29C6725C05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449" y="24494850"/>
            <a:ext cx="9846436" cy="5400000"/>
          </a:xfrm>
          <a:prstGeom prst="rect">
            <a:avLst/>
          </a:prstGeom>
        </p:spPr>
      </p:pic>
      <p:pic>
        <p:nvPicPr>
          <p:cNvPr id="28" name="Picture 27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2B09EC7D-DED7-0DE5-810C-B27114C12301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444" y="29180342"/>
            <a:ext cx="7295457" cy="324522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D95C42E8-8289-79FF-1967-CF2EBB4B4CF0}"/>
              </a:ext>
            </a:extLst>
          </p:cNvPr>
          <p:cNvSpPr/>
          <p:nvPr/>
        </p:nvSpPr>
        <p:spPr>
          <a:xfrm>
            <a:off x="23594506" y="8556472"/>
            <a:ext cx="28692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D04D2A"/>
                </a:solidFill>
              </a:rPr>
              <a:t>Poster on </a:t>
            </a:r>
            <a:r>
              <a:rPr lang="en-US" sz="2000" b="1" dirty="0" err="1">
                <a:solidFill>
                  <a:srgbClr val="D04D2A"/>
                </a:solidFill>
                <a:hlinkClick r:id="rId32"/>
              </a:rPr>
              <a:t>Zenodo</a:t>
            </a:r>
            <a:endParaRPr lang="en-US" sz="2000" b="1" dirty="0">
              <a:solidFill>
                <a:srgbClr val="D04D2A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7AD7184-3307-FC5D-FBA0-23B66E1DF915}"/>
              </a:ext>
            </a:extLst>
          </p:cNvPr>
          <p:cNvSpPr/>
          <p:nvPr/>
        </p:nvSpPr>
        <p:spPr>
          <a:xfrm>
            <a:off x="26596956" y="8557425"/>
            <a:ext cx="28692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D04D2A"/>
                </a:solidFill>
              </a:rPr>
              <a:t>… to see it in action</a:t>
            </a:r>
          </a:p>
        </p:txBody>
      </p:sp>
      <p:pic>
        <p:nvPicPr>
          <p:cNvPr id="55" name="Picture 54" descr="A qr code with a star in the middle&#10;&#10;Description automatically generated">
            <a:hlinkClick r:id="rId33"/>
            <a:extLst>
              <a:ext uri="{FF2B5EF4-FFF2-40B4-BE49-F238E27FC236}">
                <a16:creationId xmlns:a16="http://schemas.microsoft.com/office/drawing/2014/main" id="{119CFE82-9A31-4205-4B4B-3EE0CA3ADDDB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1989" y="9258130"/>
            <a:ext cx="1800000" cy="1800000"/>
          </a:xfrm>
          <a:prstGeom prst="rect">
            <a:avLst/>
          </a:prstGeom>
        </p:spPr>
      </p:pic>
      <p:pic>
        <p:nvPicPr>
          <p:cNvPr id="67" name="Picture 66" descr="A hand cursor with a black background&#10;&#10;Description automatically generated">
            <a:extLst>
              <a:ext uri="{FF2B5EF4-FFF2-40B4-BE49-F238E27FC236}">
                <a16:creationId xmlns:a16="http://schemas.microsoft.com/office/drawing/2014/main" id="{DCE05A96-B1F7-35C7-6B2C-232C4A6A4B19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9122" y="11109567"/>
            <a:ext cx="301652" cy="360000"/>
          </a:xfrm>
          <a:prstGeom prst="rect">
            <a:avLst/>
          </a:prstGeom>
        </p:spPr>
      </p:pic>
      <p:pic>
        <p:nvPicPr>
          <p:cNvPr id="74" name="Picture 73" descr="A qr code with a white background&#10;&#10;Description automatically generated">
            <a:hlinkClick r:id="rId36"/>
            <a:extLst>
              <a:ext uri="{FF2B5EF4-FFF2-40B4-BE49-F238E27FC236}">
                <a16:creationId xmlns:a16="http://schemas.microsoft.com/office/drawing/2014/main" id="{D5063A02-8E4A-A4CB-8323-207F4A6EFB78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0148" y="9167486"/>
            <a:ext cx="1980000" cy="1980000"/>
          </a:xfrm>
          <a:prstGeom prst="rect">
            <a:avLst/>
          </a:prstGeom>
        </p:spPr>
      </p:pic>
      <p:pic>
        <p:nvPicPr>
          <p:cNvPr id="81" name="Picture 80" descr="A qr code with a white background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0DACCEB3-778E-4CE9-7A3B-E6CDA2F6471C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9680" y="9172730"/>
            <a:ext cx="1980000" cy="1980000"/>
          </a:xfrm>
          <a:prstGeom prst="rect">
            <a:avLst/>
          </a:prstGeom>
        </p:spPr>
      </p:pic>
      <p:pic>
        <p:nvPicPr>
          <p:cNvPr id="97" name="Picture 96" descr="A hand cursor with a black background&#10;&#10;Description automatically generated">
            <a:extLst>
              <a:ext uri="{FF2B5EF4-FFF2-40B4-BE49-F238E27FC236}">
                <a16:creationId xmlns:a16="http://schemas.microsoft.com/office/drawing/2014/main" id="{9633DEC3-D5DA-4278-701D-9A608B413071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0351" y="11108923"/>
            <a:ext cx="301652" cy="360000"/>
          </a:xfrm>
          <a:prstGeom prst="rect">
            <a:avLst/>
          </a:prstGeom>
        </p:spPr>
      </p:pic>
      <p:pic>
        <p:nvPicPr>
          <p:cNvPr id="98" name="Picture 97" descr="A hand cursor with a black background&#10;&#10;Description automatically generated">
            <a:extLst>
              <a:ext uri="{FF2B5EF4-FFF2-40B4-BE49-F238E27FC236}">
                <a16:creationId xmlns:a16="http://schemas.microsoft.com/office/drawing/2014/main" id="{03F90A46-350A-99E5-30F3-86F61A7E03F8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6248" y="11086050"/>
            <a:ext cx="301652" cy="360000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DB285F3E-6436-9422-B7E6-6017A01D3499}"/>
              </a:ext>
            </a:extLst>
          </p:cNvPr>
          <p:cNvSpPr txBox="1"/>
          <p:nvPr/>
        </p:nvSpPr>
        <p:spPr>
          <a:xfrm>
            <a:off x="9949689" y="24703687"/>
            <a:ext cx="56236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>
                <a:solidFill>
                  <a:schemeClr val="bg2">
                    <a:lumMod val="25000"/>
                  </a:schemeClr>
                </a:solidFill>
              </a:rPr>
              <a:t>Design and usage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ABF7371-D7B6-4261-F718-85C8E77BCCB9}"/>
              </a:ext>
            </a:extLst>
          </p:cNvPr>
          <p:cNvSpPr/>
          <p:nvPr/>
        </p:nvSpPr>
        <p:spPr>
          <a:xfrm>
            <a:off x="9925065" y="24782310"/>
            <a:ext cx="9777381" cy="7311762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 descr="A cartoon of a snake&#10;&#10;Description automatically generated">
            <a:extLst>
              <a:ext uri="{FF2B5EF4-FFF2-40B4-BE49-F238E27FC236}">
                <a16:creationId xmlns:a16="http://schemas.microsoft.com/office/drawing/2014/main" id="{25A44160-44E4-25B7-DB5E-582C5F7A13F5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2265" y="24913150"/>
            <a:ext cx="2486399" cy="2880000"/>
          </a:xfrm>
          <a:prstGeom prst="rect">
            <a:avLst/>
          </a:prstGeom>
        </p:spPr>
      </p:pic>
      <p:pic>
        <p:nvPicPr>
          <p:cNvPr id="24" name="Picture 23" descr="A hexagon with a shirt open&#10;&#10;Description automatically generated">
            <a:extLst>
              <a:ext uri="{FF2B5EF4-FFF2-40B4-BE49-F238E27FC236}">
                <a16:creationId xmlns:a16="http://schemas.microsoft.com/office/drawing/2014/main" id="{BC231B90-4A1E-30AD-A276-9340DBA29280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4579" y="27038834"/>
            <a:ext cx="2486399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31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D04D2A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767</Words>
  <Application>Microsoft Office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Veri Vinicius</dc:creator>
  <cp:lastModifiedBy>Rainer Johannes</cp:lastModifiedBy>
  <cp:revision>555</cp:revision>
  <dcterms:created xsi:type="dcterms:W3CDTF">2019-03-19T11:10:13Z</dcterms:created>
  <dcterms:modified xsi:type="dcterms:W3CDTF">2024-08-20T07:40:37Z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